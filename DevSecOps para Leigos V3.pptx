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75000"/>
            <a:ext cx="16256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Segoe UI"/>
              </a:defRPr>
            </a:pPr>
            <a:r>
              <a:t>DevSecOps para leigos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13000" y="4445000"/>
            <a:ext cx="11430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CBD5E1"/>
                </a:solidFill>
                <a:latin typeface="Segoe UI"/>
              </a:defRPr>
            </a:pPr>
            <a:r>
              <a:t>Um guia didático e prático sobre os ciclos e ferramentas dessa cultura baseada no livro "Learning DevSecOps" de Steve Suehring.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6256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475569"/>
                </a:solidFill>
                <a:latin typeface="Segoe UI"/>
              </a:defRPr>
            </a:pPr>
            <a:r>
              <a:t>Apresentação por Marlon Bastida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O que é DevSecOps?</a:t>
            </a:r>
          </a:p>
        </p:txBody>
      </p:sp>
      <p:sp>
        <p:nvSpPr>
          <p:cNvPr id="3" name="Rectangle 2"/>
          <p:cNvSpPr/>
          <p:nvPr/>
        </p:nvSpPr>
        <p:spPr>
          <a:xfrm>
            <a:off x="2413000" y="2540000"/>
            <a:ext cx="11430000" cy="317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1000" y="3302000"/>
            <a:ext cx="10414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</a:pPr>
            <a:r>
              <a:rPr sz="3200" b="0">
                <a:solidFill>
                  <a:srgbClr val="1E293B"/>
                </a:solidFill>
                <a:latin typeface="Segoe UI"/>
              </a:rPr>
              <a:t>A união perfeita: integrando </a:t>
            </a:r>
            <a:r>
              <a:rPr sz="3200" b="1">
                <a:solidFill>
                  <a:srgbClr val="1E293B"/>
                </a:solidFill>
                <a:latin typeface="Segoe UI"/>
              </a:rPr>
              <a:t>Desenvolvimento (Dev)</a:t>
            </a:r>
            <a:r>
              <a:rPr sz="3200" b="0">
                <a:solidFill>
                  <a:srgbClr val="1E293B"/>
                </a:solidFill>
                <a:latin typeface="Segoe UI"/>
              </a:rPr>
              <a:t>, </a:t>
            </a:r>
            <a:r>
              <a:rPr sz="3200" b="1">
                <a:solidFill>
                  <a:srgbClr val="1E293B"/>
                </a:solidFill>
                <a:latin typeface="Segoe UI"/>
              </a:rPr>
              <a:t>Segurança (Sec)</a:t>
            </a:r>
            <a:r>
              <a:rPr sz="3200" b="0">
                <a:solidFill>
                  <a:srgbClr val="1E293B"/>
                </a:solidFill>
                <a:latin typeface="Segoe UI"/>
              </a:rPr>
              <a:t> e </a:t>
            </a:r>
            <a:r>
              <a:rPr sz="3200" b="1">
                <a:solidFill>
                  <a:srgbClr val="1E293B"/>
                </a:solidFill>
                <a:latin typeface="Segoe UI"/>
              </a:rPr>
              <a:t>Operações (Ops)</a:t>
            </a:r>
            <a:r>
              <a:rPr sz="3200" b="0">
                <a:solidFill>
                  <a:srgbClr val="1E293B"/>
                </a:solidFill>
                <a:latin typeface="Segoe UI"/>
              </a:rPr>
              <a:t> desde o primeiro dia de um projeto de software, eliminando silos(barreiras) estruturais.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O que é DevSecOps?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286000"/>
            <a:ext cx="6985000" cy="381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2286000"/>
            <a:ext cx="76200" cy="381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667000"/>
            <a:ext cx="622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A União Perfeita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75000"/>
            <a:ext cx="62230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Integrando Desenvolvimento (Dev), Segurança (Sec) e Operações (Ops) desde o primeiro dia de um projeto de software, eliminando silos estruturais.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9000" y="2286000"/>
            <a:ext cx="698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A Jornada DevSecOps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9000" y="2921000"/>
            <a:ext cx="6985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75569"/>
                </a:solidFill>
                <a:latin typeface="Segoe UI"/>
              </a:rPr>
              <a:t>O DevSecOps é representado por um ciclo contínuo com 8 fases principais: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1. Plan</a:t>
            </a:r>
            <a:r>
              <a:rPr sz="2200" b="0">
                <a:solidFill>
                  <a:srgbClr val="475569"/>
                </a:solidFill>
                <a:latin typeface="Segoe UI"/>
              </a:rPr>
              <a:t> (Planejamento)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2. Code</a:t>
            </a:r>
            <a:r>
              <a:rPr sz="2200" b="0">
                <a:solidFill>
                  <a:srgbClr val="475569"/>
                </a:solidFill>
                <a:latin typeface="Segoe UI"/>
              </a:rPr>
              <a:t> (Desenvolvimento)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3. Build</a:t>
            </a:r>
            <a:r>
              <a:rPr sz="2200" b="0">
                <a:solidFill>
                  <a:srgbClr val="475569"/>
                </a:solidFill>
                <a:latin typeface="Segoe UI"/>
              </a:rPr>
              <a:t> (Construção)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4. Test</a:t>
            </a:r>
            <a:r>
              <a:rPr sz="2200" b="0">
                <a:solidFill>
                  <a:srgbClr val="475569"/>
                </a:solidFill>
                <a:latin typeface="Segoe UI"/>
              </a:rPr>
              <a:t> (Teste)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5. Release</a:t>
            </a:r>
            <a:r>
              <a:rPr sz="2200" b="0">
                <a:solidFill>
                  <a:srgbClr val="475569"/>
                </a:solidFill>
                <a:latin typeface="Segoe UI"/>
              </a:rPr>
              <a:t> (Liberação)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6. Deploy</a:t>
            </a:r>
            <a:r>
              <a:rPr sz="2200" b="0">
                <a:solidFill>
                  <a:srgbClr val="475569"/>
                </a:solidFill>
                <a:latin typeface="Segoe UI"/>
              </a:rPr>
              <a:t> (Implantação)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7. Operate</a:t>
            </a:r>
            <a:r>
              <a:rPr sz="2200" b="0">
                <a:solidFill>
                  <a:srgbClr val="475569"/>
                </a:solidFill>
                <a:latin typeface="Segoe UI"/>
              </a:rPr>
              <a:t> (Operação)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8. Monitor</a:t>
            </a:r>
            <a:r>
              <a:rPr sz="2200" b="0">
                <a:solidFill>
                  <a:srgbClr val="475569"/>
                </a:solidFill>
                <a:latin typeface="Segoe UI"/>
              </a:rPr>
              <a:t> (Monitoramento)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Fase 1: Planeamento (Plan)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032000"/>
            <a:ext cx="6985000" cy="292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2032000"/>
            <a:ext cx="76200" cy="2921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13000"/>
            <a:ext cx="622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Alinhamento de Ideias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1000"/>
            <a:ext cx="6223000" cy="17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A equipa define o que será construído. Requisitos de negócio e segurança são discutidos juntos, mapeando riscos antes de qualquer código ser escrito.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0"/>
            <a:ext cx="698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Há um "fit" natural com Metodologias Ágeis (Scrum, Kanban). O foco é na velocidade e redução de desperdícios.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9000" y="2032000"/>
            <a:ext cx="698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Ferramentas de Colaboração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9000" y="2667000"/>
            <a:ext cx="698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3000" y="2921000"/>
            <a:ext cx="647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Jira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0" y="3365500"/>
            <a:ext cx="6477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Gestão ágil de projetos e rastreio de tarefas e sprints.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9000" y="4254500"/>
            <a:ext cx="698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3000" y="4508500"/>
            <a:ext cx="647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Slack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0" y="4953000"/>
            <a:ext cx="6477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Comunicação instantânea, integrando alertas e automatizações.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9000" y="5842000"/>
            <a:ext cx="698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3000" y="6096000"/>
            <a:ext cx="647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Microsoft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0" y="6540500"/>
            <a:ext cx="6477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Colaboração unificada, permitindo alinhamento em tempo real do planeamento.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Fase 2: Desenvolvimento (Code)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032000"/>
            <a:ext cx="6985000" cy="1905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2032000"/>
            <a:ext cx="76200" cy="1905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13000"/>
            <a:ext cx="622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Foco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1000"/>
            <a:ext cx="6223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Transformar requisitos em código seguro e rastreável.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9000" y="2032000"/>
            <a:ext cx="698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Práticas Recomendadas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9000" y="2794000"/>
            <a:ext cx="69850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Codificação Segura:</a:t>
            </a:r>
            <a:r>
              <a:rPr sz="2200" b="0">
                <a:solidFill>
                  <a:srgbClr val="475569"/>
                </a:solidFill>
                <a:latin typeface="Segoe UI"/>
              </a:rPr>
              <a:t> Aplicar padrões desde a primeira linha.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Controlo de Versões:</a:t>
            </a:r>
            <a:r>
              <a:rPr sz="2200" b="0">
                <a:solidFill>
                  <a:srgbClr val="475569"/>
                </a:solidFill>
                <a:latin typeface="Segoe UI"/>
              </a:rPr>
              <a:t> Uso de Git para colaboração e histórico.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Linting Automático:</a:t>
            </a:r>
            <a:r>
              <a:rPr sz="2200" b="0">
                <a:solidFill>
                  <a:srgbClr val="475569"/>
                </a:solidFill>
                <a:latin typeface="Segoe UI"/>
              </a:rPr>
              <a:t> Ferramentas para detetar falhas de sintaxe em tempo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IDEs de Desenvolvimento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032000"/>
            <a:ext cx="6985000" cy="406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2032000"/>
            <a:ext cx="76200" cy="4064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13000"/>
            <a:ext cx="622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A sua "Oficina" de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1000"/>
            <a:ext cx="6223000" cy="292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IDEs (Ambientes de Desenvolvimento Integrado) são programas que funcionam como uma oficina completa. Eles avisam sobre erros de sintaxe, oferecem plugins de segurança (linting) e formatam o texto automaticamente enquanto escreve, economizando horas de trabalho braçal.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9000" y="2032000"/>
            <a:ext cx="698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Ferramentas Populares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9000" y="2794000"/>
            <a:ext cx="6985000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VS Code:</a:t>
            </a:r>
            <a:r>
              <a:rPr sz="2200" b="0">
                <a:solidFill>
                  <a:srgbClr val="475569"/>
                </a:solidFill>
                <a:latin typeface="Segoe UI"/>
              </a:rPr>
              <a:t> Leve e moderno. É o "canivete suíço" da programação hoje em dia, permitindo instalar milhares de extensões que ajudam a encontrar falhas de segurança instantaneamente.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Eclipse:</a:t>
            </a:r>
            <a:r>
              <a:rPr sz="2200" b="0">
                <a:solidFill>
                  <a:srgbClr val="475569"/>
                </a:solidFill>
                <a:latin typeface="Segoe UI"/>
              </a:rPr>
              <a:t> Robusto e tradicional. Funciona como uma grande fábrica pesada, sendo muito utilizado por empresas corporativas gigantes para programar na linguagem Java.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Antigravity:</a:t>
            </a:r>
            <a:r>
              <a:rPr sz="2200" b="0">
                <a:solidFill>
                  <a:srgbClr val="475569"/>
                </a:solidFill>
                <a:latin typeface="Segoe UI"/>
              </a:rPr>
              <a:t> (Um famoso "easter egg" divertido da linguagem Python). Ilustra a ideia moderna de que as ferramentas tentam fazer o trabalho pesado de forma tão "mágica" que parece que está a flutuar!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Repositórios e Versões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032000"/>
            <a:ext cx="6985000" cy="3175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2032000"/>
            <a:ext cx="76200" cy="3175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13000"/>
            <a:ext cx="622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A "Máquina do Tempo" do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1000"/>
            <a:ext cx="622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Estes ecossistemas atuam como o coração da gestão do código. Eles guardam cada alteração (versões) e usam ramificações (branches) para que várias pessoas programem funcionalidades ao mesmo tempo sem quebrar o código principal.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9000" y="2032000"/>
            <a:ext cx="698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Principais Plataformas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9000" y="2794000"/>
            <a:ext cx="6985000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Git:</a:t>
            </a:r>
            <a:r>
              <a:rPr sz="2200" b="0">
                <a:solidFill>
                  <a:srgbClr val="475569"/>
                </a:solidFill>
                <a:latin typeface="Segoe UI"/>
              </a:rPr>
              <a:t> O "Motor". É a ferramenta invisível instalada no computador que tira as "fotografias" de cada alteração.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GitHub:</a:t>
            </a:r>
            <a:r>
              <a:rPr sz="2200" b="0">
                <a:solidFill>
                  <a:srgbClr val="475569"/>
                </a:solidFill>
                <a:latin typeface="Segoe UI"/>
              </a:rPr>
              <a:t> A "Rede Social". Onde o mundo guarda o código Git na nuvem. É a maior montra de projetos de código aberto.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GitLab:</a:t>
            </a:r>
            <a:r>
              <a:rPr sz="2200" b="0">
                <a:solidFill>
                  <a:srgbClr val="475569"/>
                </a:solidFill>
                <a:latin typeface="Segoe UI"/>
              </a:rPr>
              <a:t> A "Fábrica Integrada". Além de guardar o código, brilha no DevSecOps por já vir com motores de testes e segurança (CI/CD) embutidos de fábrica.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Bitbucket:</a:t>
            </a:r>
            <a:r>
              <a:rPr sz="2200" b="0">
                <a:solidFill>
                  <a:srgbClr val="475569"/>
                </a:solidFill>
                <a:latin typeface="Segoe UI"/>
              </a:rPr>
              <a:t> A "Opção Corporativa". Da empresa Atlassian, integra-se perfeitamente com o Jira nas empresas.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A Segurança na Prática: Exemplo Snyk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032000"/>
            <a:ext cx="6985000" cy="279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2032000"/>
            <a:ext cx="76200" cy="2794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13000"/>
            <a:ext cx="622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O "Corretor Ortográfico"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1000"/>
            <a:ext cx="6223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Imagine escrever um e-mail e o computador sublinhar palavras erradas a vermelho. O Snyk faz isso para falhas de segurança enquanto programa!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9000" y="2032000"/>
            <a:ext cx="698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No Dia a Dia do Programador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9000" y="2794000"/>
            <a:ext cx="6985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Análise de Lego:</a:t>
            </a:r>
            <a:r>
              <a:rPr sz="2200" b="0">
                <a:solidFill>
                  <a:srgbClr val="475569"/>
                </a:solidFill>
                <a:latin typeface="Segoe UI"/>
              </a:rPr>
              <a:t> Verifica se as bibliotecas prontas da internet (bloquinhos) não têm defeitos de fábrica.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Alerta em Tempo Real:</a:t>
            </a:r>
            <a:r>
              <a:rPr sz="2200" b="0">
                <a:solidFill>
                  <a:srgbClr val="475569"/>
                </a:solidFill>
                <a:latin typeface="Segoe UI"/>
              </a:rPr>
              <a:t> Avisa o programador dentro da IDE (como o VS Code).</a:t>
            </a:r>
          </a:p>
          <a:p>
            <a:pPr algn="l">
              <a:spcAft>
                <a:spcPts val="2000"/>
              </a:spcAft>
            </a:pPr>
            <a:r>
              <a:rPr sz="2200" b="1">
                <a:solidFill>
                  <a:srgbClr val="1E293B"/>
                </a:solidFill>
                <a:latin typeface="Segoe UI"/>
              </a:rPr>
              <a:t>• Correção Automática:</a:t>
            </a:r>
            <a:r>
              <a:rPr sz="2200" b="0">
                <a:solidFill>
                  <a:srgbClr val="475569"/>
                </a:solidFill>
                <a:latin typeface="Segoe UI"/>
              </a:rPr>
              <a:t> Famoso por dar a solução, oferecendo um botão "Corrigir" para trocar a peça vulnerável instantaneamente.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Fase 3: Construção (Build)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78000"/>
            <a:ext cx="14732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A magia da automatização acontece aqui: transformando o código-fonte legível por humanos em pacotes executáveis de software de forma limpa, auditável e reprodutível.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048000"/>
            <a:ext cx="1473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Ferramentas de Construção e Segurança de Imagem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4064000"/>
            <a:ext cx="406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Maven / Gradle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4508500"/>
            <a:ext cx="4064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Build. Ferramentas robustas que automatizam a compilação do código e a gestão complexa de dependências para pipelines.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0" y="3810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0" y="4064000"/>
            <a:ext cx="406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SonarQube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508500"/>
            <a:ext cx="4064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Qualidade. Realiza análises estáticas (SAST) inspecionando o código em busca de bugs e vulnerabilidades antes da compilação.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22000" y="3810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4064000"/>
            <a:ext cx="406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Scout / Trivy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0" y="4508500"/>
            <a:ext cx="4064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Scanners. Antes de seguir adiante, verificam imagens de contentores em busca de vulnerabilidades (CVEs) de terceiros.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Fase 4: Teste (Test)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778000"/>
            <a:ext cx="14732000" cy="1524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778000"/>
            <a:ext cx="76200" cy="1524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59000"/>
            <a:ext cx="13970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Garante que os novos recursos funcionem sem quebrar o sistema. A Verificação de Segurança aqui é obrigatória, pois achar falhas nesta etapa é muito mais barato do que em produção.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56000"/>
            <a:ext cx="1473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Testes Automatizados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318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4572000"/>
            <a:ext cx="406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JUnit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5016500"/>
            <a:ext cx="4064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Unidade: Framework para Java que valida pedaços isolados de código, garantindo resultados corretos.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0" y="4318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0" y="4572000"/>
            <a:ext cx="406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Selenium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5016500"/>
            <a:ext cx="4064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Automatização Web: Simula as ações de um utilizador real no navegador para testar fluxos completos e repetitivos.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22000" y="4318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6000" y="4572000"/>
            <a:ext cx="406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Playwright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6000" y="5016500"/>
            <a:ext cx="4064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E2E Moderno: Da Microsoft, oferece testes de ponta a ponta ultra rápidos e fiáveis em múltiplos navegadores.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Fase 5: Liberação (Release)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032000"/>
            <a:ext cx="6985000" cy="2921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2032000"/>
            <a:ext cx="76200" cy="2921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13000"/>
            <a:ext cx="622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A Ponte Dev-Ops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1000"/>
            <a:ext cx="6223000" cy="17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Foco na Integração e Entrega Contínuas (CI/CD). O software validado é empacotado automaticamente. A intervenção humana é minimizada para evitar erros.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9000" y="2032000"/>
            <a:ext cx="698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Motores de CI/CD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9000" y="2667000"/>
            <a:ext cx="698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0" y="2921000"/>
            <a:ext cx="647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GitLab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3365500"/>
            <a:ext cx="6477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Integra o controlo de versões com um motor dinâmico e seguro.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9000" y="4254500"/>
            <a:ext cx="698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0" y="4508500"/>
            <a:ext cx="647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0" y="4953000"/>
            <a:ext cx="6477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Nativo do GitHub, automatiza workflows de forma muito acessível e visual para a comunidade.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9000" y="5842000"/>
            <a:ext cx="698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0" y="6096000"/>
            <a:ext cx="647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Jenkins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0" y="6540500"/>
            <a:ext cx="6477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Servidor de automatização open source global com milhares de plugins.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Fase 6: Implantação (Deploy)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78000"/>
            <a:ext cx="14732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Aceleração controlada. Provisionando servidores em segundos e distribuindo a aplicação validada para o público final sem causar indisponibilidades operacionais.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048000"/>
            <a:ext cx="1473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Infraestrutura como Código (IaC)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4064000"/>
            <a:ext cx="406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Provedores de Nuvem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4508500"/>
            <a:ext cx="4064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AWS, GCP, Azure fornecem o hardware virtual e elástico escalando conforme a procura.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0" y="3810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0" y="4064000"/>
            <a:ext cx="406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Terraform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508500"/>
            <a:ext cx="4064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Ferramenta agnóstica para declarar e provisionar de forma segura toda a infraestrutura via scripts.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22000" y="3810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4064000"/>
            <a:ext cx="406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Chef &amp; Puppet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0" y="4508500"/>
            <a:ext cx="4064000" cy="158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Gestão de configuração que mantêm servidores com o estado exato exigido.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Fase 7: Operação (Operate)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6985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00"/>
              </a:spcAft>
            </a:pPr>
            <a:r>
              <a:rPr sz="2200" b="0">
                <a:solidFill>
                  <a:srgbClr val="475569"/>
                </a:solidFill>
                <a:latin typeface="Segoe UI"/>
              </a:rPr>
              <a:t>A aplicação está agora "viva" e a receber interações de utilizadores reais em escala de produção.</a:t>
            </a:r>
          </a:p>
          <a:p>
            <a:pPr algn="l">
              <a:spcAft>
                <a:spcPts val="2500"/>
              </a:spcAft>
            </a:pPr>
            <a:r>
              <a:rPr sz="2200" b="0">
                <a:solidFill>
                  <a:srgbClr val="475569"/>
                </a:solidFill>
                <a:latin typeface="Segoe UI"/>
              </a:rPr>
              <a:t>As operações garantem disponibilidade, mitigando riscos de indisponibilidade ou invasão através da observabilidade.</a:t>
            </a:r>
          </a:p>
          <a:p>
            <a:pPr algn="l">
              <a:spcAft>
                <a:spcPts val="2500"/>
              </a:spcAft>
            </a:pPr>
            <a:r>
              <a:rPr sz="2200" b="1">
                <a:solidFill>
                  <a:srgbClr val="4F46E5"/>
                </a:solidFill>
                <a:latin typeface="Segoe UI"/>
              </a:rPr>
              <a:t>O DevSecOps extingue a barreira antiga: os programadores passam a ter visibilidade do sistema.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9000" y="2032000"/>
            <a:ext cx="698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Ferramentas de Observabilidade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9000" y="2667000"/>
            <a:ext cx="698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0" y="2921000"/>
            <a:ext cx="647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Splunk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0" y="3365500"/>
            <a:ext cx="6477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Capta massas de logs e gera alertas de segurança vitais.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9000" y="4254500"/>
            <a:ext cx="698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0" y="4508500"/>
            <a:ext cx="647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Datadog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4953000"/>
            <a:ext cx="6477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Unifica APM (rastreio), logs e infraestrutura.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9000" y="5842000"/>
            <a:ext cx="6985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0" y="6096000"/>
            <a:ext cx="647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F46E5"/>
                </a:solidFill>
                <a:latin typeface="Segoe UI"/>
              </a:defRPr>
            </a:pPr>
            <a:r>
              <a:t>Prometheus &amp; Grafana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0" y="6540500"/>
            <a:ext cx="6477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Segoe UI"/>
              </a:defRPr>
            </a:pPr>
            <a:r>
              <a:t>Recolha ativa de métricas combinada com painéis visuais poderosos.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4732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1E293B"/>
                </a:solidFill>
                <a:latin typeface="Segoe UI"/>
              </a:defRPr>
            </a:pPr>
            <a:r>
              <a:t>Fase 8: Monitorização (Monitor)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286000"/>
            <a:ext cx="14732000" cy="1905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2286000"/>
            <a:ext cx="76200" cy="1905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667000"/>
            <a:ext cx="1397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O Início do Novo Fim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75000"/>
            <a:ext cx="1397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Vigiamos continuamente a saúde da infraestrutura e procuramos proativamente por ameaças.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572000"/>
            <a:ext cx="14732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475569"/>
                </a:solidFill>
                <a:latin typeface="Segoe UI"/>
              </a:defRPr>
            </a:pPr>
            <a:r>
              <a:t>Toda a inteligência e anomalias recolhidas não param aqui: elas retornam à Fase 1 (Planeamento), ensinando a equipa a construir um sistema blindado na próxima iteração do ciclo.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78000" y="3175000"/>
            <a:ext cx="152400" cy="25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175000"/>
            <a:ext cx="12192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1">
                <a:solidFill>
                  <a:srgbClr val="1E293B"/>
                </a:solidFill>
                <a:latin typeface="Segoe UI"/>
              </a:defRPr>
            </a:pPr>
            <a:r>
              <a:t>"O DevSecOps foca na construção de processos repetíveis e abertos para criar uma cultura. A tecnologia deve ajudar a concluir o trabalho, mas a ferramenta não define o trabalho."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429000"/>
            <a:ext cx="16256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4F46E5"/>
                </a:solidFill>
                <a:latin typeface="Segoe UI"/>
              </a:defRPr>
            </a:pPr>
            <a:r>
              <a:t>Obrigado pela Leitura!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826000"/>
            <a:ext cx="16256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  <a:latin typeface="Segoe UI"/>
              </a:defRPr>
            </a:pPr>
            <a:r>
              <a:t>Produzido por: Marlon Bastida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