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2.png"/><Relationship Id="rId13" Type="http://schemas.openxmlformats.org/officeDocument/2006/relationships/image" Target="../media/image18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28.png"/><Relationship Id="rId15" Type="http://schemas.openxmlformats.org/officeDocument/2006/relationships/image" Target="../media/image26.png"/><Relationship Id="rId14" Type="http://schemas.openxmlformats.org/officeDocument/2006/relationships/image" Target="../media/image21.png"/><Relationship Id="rId17" Type="http://schemas.openxmlformats.org/officeDocument/2006/relationships/image" Target="../media/image31.png"/><Relationship Id="rId16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18" Type="http://schemas.openxmlformats.org/officeDocument/2006/relationships/image" Target="../media/image25.png"/><Relationship Id="rId7" Type="http://schemas.openxmlformats.org/officeDocument/2006/relationships/image" Target="../media/image12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4.png"/><Relationship Id="rId13" Type="http://schemas.openxmlformats.org/officeDocument/2006/relationships/image" Target="../media/image38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Relationship Id="rId9" Type="http://schemas.openxmlformats.org/officeDocument/2006/relationships/image" Target="../media/image32.png"/><Relationship Id="rId14" Type="http://schemas.openxmlformats.org/officeDocument/2006/relationships/image" Target="../media/image39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3.png"/><Relationship Id="rId8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Relationship Id="rId5" Type="http://schemas.openxmlformats.org/officeDocument/2006/relationships/image" Target="../media/image43.png"/><Relationship Id="rId6" Type="http://schemas.openxmlformats.org/officeDocument/2006/relationships/image" Target="../media/image41.png"/><Relationship Id="rId7" Type="http://schemas.openxmlformats.org/officeDocument/2006/relationships/image" Target="../media/image45.png"/><Relationship Id="rId8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59.png"/><Relationship Id="rId5" Type="http://schemas.openxmlformats.org/officeDocument/2006/relationships/image" Target="../media/image65.png"/><Relationship Id="rId6" Type="http://schemas.openxmlformats.org/officeDocument/2006/relationships/image" Target="../media/image50.png"/><Relationship Id="rId7" Type="http://schemas.openxmlformats.org/officeDocument/2006/relationships/image" Target="../media/image61.png"/><Relationship Id="rId8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Relationship Id="rId4" Type="http://schemas.openxmlformats.org/officeDocument/2006/relationships/image" Target="../media/image69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8.png"/><Relationship Id="rId10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6.png"/><Relationship Id="rId4" Type="http://schemas.openxmlformats.org/officeDocument/2006/relationships/image" Target="../media/image70.png"/><Relationship Id="rId9" Type="http://schemas.openxmlformats.org/officeDocument/2006/relationships/image" Target="../media/image63.png"/><Relationship Id="rId5" Type="http://schemas.openxmlformats.org/officeDocument/2006/relationships/image" Target="../media/image62.png"/><Relationship Id="rId6" Type="http://schemas.openxmlformats.org/officeDocument/2006/relationships/image" Target="../media/image67.png"/><Relationship Id="rId7" Type="http://schemas.openxmlformats.org/officeDocument/2006/relationships/image" Target="../media/image64.png"/><Relationship Id="rId8" Type="http://schemas.openxmlformats.org/officeDocument/2006/relationships/image" Target="../media/image7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7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Relationship Id="rId5" Type="http://schemas.openxmlformats.org/officeDocument/2006/relationships/image" Target="../media/image68.png"/><Relationship Id="rId6" Type="http://schemas.openxmlformats.org/officeDocument/2006/relationships/image" Target="../media/image77.png"/><Relationship Id="rId7" Type="http://schemas.openxmlformats.org/officeDocument/2006/relationships/image" Target="../media/image79.png"/><Relationship Id="rId8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80485" y="2368004"/>
            <a:ext cx="8231028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DevSecOps para leigos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56815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Um guia didático e prático sobre os ciclos e ferramentas dessa cultura baseada no livro "Learning DevSecOps" de Steve Suehring.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327969"/>
            <a:ext cx="1143000" cy="571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65608" y="2670869"/>
            <a:ext cx="6260782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que é </a:t>
            </a:r>
            <a:r>
              <a:rPr b="1" i="0" lang="en-US" sz="45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Dev</a:t>
            </a:r>
            <a:r>
              <a:rPr b="1" i="0" lang="en-US" sz="45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Sec</a:t>
            </a:r>
            <a:r>
              <a:rPr b="1" i="0" lang="en-US" sz="45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Ops</a:t>
            </a: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7186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 união perfeita: integrando Desenvolvimento (Dev), Segurança (Sec) e Operações (Ops) desde o primeiro dia de um projeto de software, eliminando silos(barreiras) estruturais.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Ciclo Infinito</a:t>
            </a:r>
            <a:endParaRPr/>
          </a:p>
        </p:txBody>
      </p:sp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230981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Jornada DevSecOps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9098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DevSecOps é representado por um ciclo contínuo. A segurança não é uma fase final, mas um processo que permeia toda a esteira de desenvolvimento.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405288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 8 fases principais: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Plan (Planejamento), Code (Desenvolvimento), Build (Construção), Test (Teste), Release (Liberação), Deploy (Implantação), Operate (Operação) e Monitor (Monitoramento).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81250"/>
            <a:ext cx="528637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81250"/>
            <a:ext cx="528637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962025" y="277177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192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Alinhamento de Ideias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962025" y="3371850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Nesta fase inicial, a equipe define o que será construído. Requisitos de negócio e segurança são discutidos simultaneamente. É aqui que os riscos são mapeados antes mesmo de qualquer código ser escrito, economizando tempo no futuro.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6724650" y="277177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192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Metodologias Ágeis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724650" y="3371850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cultura DevOps possui um "fit" natural com frameworks ágeis como Scrum, Kanban, Lean e XP. Em vez de esperar meses para ver um resultado, o foco é na velocidade de entrega, redução de desperdícios e no feedback constante do usuário.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1: Planejamento (Plan)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24075"/>
            <a:ext cx="3429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24075"/>
            <a:ext cx="3429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24075"/>
            <a:ext cx="34290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1970960" y="3248025"/>
            <a:ext cx="6300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Jira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866775" y="3848100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Utilizado para o gerenciamento ágil de projetos, rastreamento de tarefas, bugs e planejamento de sprints com a equipe.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5650944" y="3248025"/>
            <a:ext cx="8901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Slack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4676775" y="3848100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Plataforma de mensagens para comunicação instantânea, integrando alertas de segurança e automações no canal da equipe.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8545830" y="3248025"/>
            <a:ext cx="27203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Microsoft Teams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8486775" y="3848100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Ferramenta de colaboração unificada, permitindo reuniões, chamadas de vídeo e alinhamento em tempo real do planejamento.</a:t>
            </a:r>
            <a:endParaRPr/>
          </a:p>
        </p:txBody>
      </p:sp>
      <p:pic>
        <p:nvPicPr>
          <p:cNvPr descr="image.png" id="129" name="Google Shape;12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2162" y="2562225"/>
            <a:ext cx="4476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95975" y="25622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05975" y="25622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Planejamento e Colaboração (comunicação é essencial)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695325" y="22383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809625" y="22383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Os desenvolvedores começam a criar o software e a transformar os requisitos mapeados na fase de planejamento em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código-fonte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95325" y="32956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09625" y="32956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Nesta fase, a adoção de boas práticas de codificação segura é vital.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695325" y="40481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09625" y="40481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código é escrito de forma intencional e sem duplicações de lógica, facilitando futuras manutenções.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95325" y="48006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809625" y="48006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uso contínuo de sistemas de controle de versão garante um trabalho em equipe rastreável e revisado.</a:t>
            </a:r>
            <a:endParaRPr/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2: Desenvolvimento (Code)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62212"/>
            <a:ext cx="5286375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62212"/>
            <a:ext cx="5286375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2087" y="2233612"/>
            <a:ext cx="11144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1762" y="2233612"/>
            <a:ext cx="9334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0462" y="2233612"/>
            <a:ext cx="12668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3725" y="2233612"/>
            <a:ext cx="6858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24775" y="2233612"/>
            <a:ext cx="9906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10625" y="2233612"/>
            <a:ext cx="9429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48850" y="2233612"/>
            <a:ext cx="11620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962025" y="26908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192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IDEs de Desenvolvimento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962025" y="3290887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Ambientes de Desenvolvimento Integrado (IDEs) como VS Code, Eclipse, Antigravity (e outras) fornecem alertas de sintaxe, plugins de linting de segurança e formatação automática enquanto o código é escrito.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724650" y="26908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A192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Repositórios e Versões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724650" y="3290887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Estes ecossistemas atuam como o coração do gerenciamento do código, beneficiando-se da ramificação (branching) para desenvolver funcionalidades isoladas antes de uní-las à versão principal com total segurança.</a:t>
            </a:r>
            <a:endParaRPr/>
          </a:p>
        </p:txBody>
      </p:sp>
      <p:pic>
        <p:nvPicPr>
          <p:cNvPr descr="image.png" id="164" name="Google Shape;164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95437" y="231457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805112" y="231457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833812" y="23145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77075" y="23145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858125" y="23145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943975" y="23145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982200" y="23145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Ferramentas: Escrever Código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/>
          <p:nvPr/>
        </p:nvSpPr>
        <p:spPr>
          <a:xfrm>
            <a:off x="5524500" y="2327969"/>
            <a:ext cx="1143000" cy="571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000488" y="2670869"/>
            <a:ext cx="819102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Fase 3: Construção (Build)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2286000" y="37186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 mágica da automação acontece aqui: transformando o código-fonte legível por humanos em pacotes executáveis de software de forma limpa, auditável e reprodutível.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43125"/>
            <a:ext cx="342900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43125"/>
            <a:ext cx="342900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43125"/>
            <a:ext cx="342900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47787" y="1914525"/>
            <a:ext cx="9715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14587" y="1914525"/>
            <a:ext cx="8096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57825" y="1914525"/>
            <a:ext cx="12763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48737" y="1914525"/>
            <a:ext cx="9239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67912" y="1914525"/>
            <a:ext cx="8953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795813" y="2466975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Gerenciamento de Build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66775" y="3524250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Ferramentas robustas que automatizam a compilação do código e o gerenciamento complexo de dependências para pipelines.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605813" y="2466975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Qualidade de Código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4676775" y="3524250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Realiza análises estáticas inspecionando o código-fonte (SAST) em busca de bugs e vulnerabilidades antes da compilação.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8415813" y="2466975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Scanners de Imagem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8486775" y="3524250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Antes do pacote seguir adiante, estas ferramentas verificam imagens de containers em busca de vulnerabilidades (CVEs) em códigos de terceiros.</a:t>
            </a:r>
            <a:endParaRPr/>
          </a:p>
        </p:txBody>
      </p:sp>
      <p:pic>
        <p:nvPicPr>
          <p:cNvPr descr="image.png" id="198" name="Google Shape;198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81137" y="19954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91175" y="19954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82087" y="199548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01262" y="1995487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Ferramentas: Construção e Segurança de Imagem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/>
        </p:nvSpPr>
        <p:spPr>
          <a:xfrm>
            <a:off x="695325" y="22383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809625" y="22383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fase de Teste garante que os novos recursos funcionem sem quebrar o que já estava funcionando anteriormente.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95325" y="29908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09625" y="29908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equipe automatiza a execução de testes para garantir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qualidade em alta velocidade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95325" y="37433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09625" y="37433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Além de testar as funcionalidades, é obrigatória uma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Verificação de Segurança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95325" y="44958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809625" y="44958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Identificar falhas e bugs de segurança nesta etapa é muito mais barato e seguro do que encontrá-los em produção.</a:t>
            </a:r>
            <a:endParaRPr/>
          </a:p>
        </p:txBody>
      </p:sp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4: Teste (Test)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33587"/>
            <a:ext cx="3429000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33587"/>
            <a:ext cx="3429000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033587"/>
            <a:ext cx="3429000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7375" y="1804987"/>
            <a:ext cx="8572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3550" y="1804987"/>
            <a:ext cx="11049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67825" y="1804987"/>
            <a:ext cx="12763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795813" y="2357437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Testes de Unidade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866775" y="3414712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framework de fato para ecossistemas Java. Ele valida pedaços isolados de código, garantindo que funções específicas retornem sempre o resultado correto esperado.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4715827" y="2357437"/>
            <a:ext cx="27603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Automação Web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4676775" y="295751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Uma ferramenta clássica para automação de navegadores. Ele simula as ações de um usuário real no sistema para testar fluxos completos e repetitivos de uso.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415813" y="2357437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Testes E2E Modernos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8486775" y="3414712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Criado pela Microsoft, oferece testes de ponta a ponta (End-to-End) incrivelmente rápidos e confiáveis para aplicações web modernas, operando nativamente em múltiplos navegadores.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90725" y="18859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76900" y="18859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01175" y="188595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Ferramentas: Testes Automatizados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5: Liberação (Release)</a:t>
            </a:r>
            <a:endParaRPr/>
          </a:p>
        </p:txBody>
      </p:sp>
      <p:pic>
        <p:nvPicPr>
          <p:cNvPr descr="image.png" id="243" name="Google Shape;2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571500" y="25955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Ponte Dev-Ops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571500" y="31956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fase de Release atua como a ponte oficial entre o universo do Desenvolvimento e as Operações de TI. O foco principal aqui é a Integração e Entrega Contínuas (CI/CD).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433863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software aprovado nos testes é empacotado, assinado e preparado automaticamente para implantação. A intervenção humana é minimizada para evitar erros e garantir segurança na entrega.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62137"/>
            <a:ext cx="3429000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862137"/>
            <a:ext cx="3429000" cy="408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862137"/>
            <a:ext cx="3429000" cy="40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1550908" y="2986087"/>
            <a:ext cx="14701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GitLab CI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866775" y="3586162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Uma plataforma DevOps única. O GitLab integra seu repositório de controle de versão nativamente com um motor CI/CD incrivelmente poderoso e dinâmico.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5455920" y="2986087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CircleCI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4676775" y="358616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Solução baseada em nuvem para Integração Contínua e Entrega Contínua, elogiada por sua velocidade na execução de rotinas isoladas em containers.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9270920" y="2986087"/>
            <a:ext cx="12701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Jenkins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8486775" y="358616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servidor de automação open source mais famoso do mundo, contando com milhares de plugins para suportar quase qualquer fluxo de construção.</a:t>
            </a:r>
            <a:endParaRPr/>
          </a:p>
        </p:txBody>
      </p:sp>
      <p:pic>
        <p:nvPicPr>
          <p:cNvPr descr="image.png" id="260" name="Google Shape;26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3002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3002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3002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Ferramentas: Integração e Entrega (CI/CD)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/>
          <p:nvPr/>
        </p:nvSpPr>
        <p:spPr>
          <a:xfrm>
            <a:off x="5524500" y="2327969"/>
            <a:ext cx="1143000" cy="571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 txBox="1"/>
          <p:nvPr/>
        </p:nvSpPr>
        <p:spPr>
          <a:xfrm>
            <a:off x="1500425" y="2670869"/>
            <a:ext cx="9191148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Fase 6: Implantação (Deploy)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2286000" y="37186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Aceleração controlada. Provisionando servidores em segundos e distribuindo a aplicação validada para o público final sem causar indisponibilidades operacionais.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/>
        </p:nvSpPr>
        <p:spPr>
          <a:xfrm>
            <a:off x="2286000" y="1585614"/>
            <a:ext cx="8096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Provedores de Nuvem (AWS, Google Cloud, Azure):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Fornecem o hardware virtual e elástico necessário. Uma aplicação moderna escala sua infraestrutura conforme a demanda.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2286000" y="2829222"/>
            <a:ext cx="8096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IaC, Gerenciamento de Configuração: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Infraestrutura como Código. Você não clica em painéis para configurar servidores; você escreve scripts que descrevem a infraestrutura, permitindo reprodutibilidade.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2286000" y="4072830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Terraform: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principal ferramenta agnóstica de nuvem para declarar e provisionar de forma segura toda a infraestrutura requerida pelo seu aplicativo.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2286000" y="4981277"/>
            <a:ext cx="8096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Chef &amp; Puppet: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Ferramentas de gerenciamento de configuração que garantem que todos os servidores mantenham o estado exato exigido, instalando dependências automaticamente.</a:t>
            </a:r>
            <a:endParaRPr/>
          </a:p>
        </p:txBody>
      </p:sp>
      <p:pic>
        <p:nvPicPr>
          <p:cNvPr descr="image.png"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159990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4351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87117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995564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Infraestrutura e Orquestração / IaC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955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95325" y="20955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809625" y="20955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aplicação está agora "viva" e recebendo interações de usuários reais em escala de produção.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695325" y="28479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809625" y="28479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 operações garantem que o software esteja sempre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disponível, rápido e escalável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sob pressão.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695325" y="36004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809625" y="360045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Qualquer erro inesperado em tempo real deve ser rapidamente isolado e mitigado por meio do Controle de Incidentes.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695325" y="4657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809625" y="46577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mentalidade DevSecOps extingue a barreira antiga: desenvolvedores ganham visibilidade direta de problemas de infraestrutura.</a:t>
            </a:r>
            <a:endParaRPr/>
          </a:p>
        </p:txBody>
      </p:sp>
      <p:pic>
        <p:nvPicPr>
          <p:cNvPr descr="image.png"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55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7: Operação (Operate)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14537"/>
            <a:ext cx="34290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14537"/>
            <a:ext cx="34290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014537"/>
            <a:ext cx="34290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0" y="1785937"/>
            <a:ext cx="13144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77450" y="1785937"/>
            <a:ext cx="10668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 txBox="1"/>
          <p:nvPr/>
        </p:nvSpPr>
        <p:spPr>
          <a:xfrm>
            <a:off x="1725930" y="3138487"/>
            <a:ext cx="11201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Splunk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866775" y="373856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Capta e indexa massas de logs de máquinas em tempo real, gerando alertas e painéis de segurança valiosíssimos para respostas rápidas.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5375910" y="3138487"/>
            <a:ext cx="14401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Datadog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4676775" y="373856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Plataforma SaaS para observabilidade que unifica métricas de infraestrutura, rastreamento de aplicações (APM) e logs de forma centralizada.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8415813" y="2338387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Métricas Open Source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8486775" y="339566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Prometheus coleta ativamente métricas vitais, enquanto o Grafana fornece os famosos painéis visuais interativos e relatórios dinâmicos.</a:t>
            </a:r>
            <a:endParaRPr/>
          </a:p>
        </p:txBody>
      </p:sp>
      <p:pic>
        <p:nvPicPr>
          <p:cNvPr descr="image.png" id="315" name="Google Shape;315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57400" y="24526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38825" y="24526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01100" y="18669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10800" y="1866900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Ferramentas: Observabilidade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 8: Monitoramento (Monitor)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571500" y="217646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Início do Novo Fim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571500" y="27765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fase de Monitoramento garante que tudo o que foi construído permaneça seguro e operante. Como fazemos isso?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571500" y="36147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Vigiamos continuamente a saúde da infraestrutura (como consumo de memória) 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procuramos proativamente por ameaças de segurança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571500" y="475773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algo suspeito é detectado, a equipe atua rapidamente. Toda essa inteligência coletada não para aqui: ela retorna à Fase 1 (Planejamento), ensinando a equipe a construir um sistema ainda mais blindado na próxima iteração.</a:t>
            </a:r>
            <a:endParaRPr/>
          </a:p>
        </p:txBody>
      </p:sp>
      <p:pic>
        <p:nvPicPr>
          <p:cNvPr id="330" name="Google Shape;330;p30" title="DEVSECOPS LOO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3687" y="401950"/>
            <a:ext cx="5358751" cy="535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1"/>
          <p:cNvSpPr txBox="1"/>
          <p:nvPr/>
        </p:nvSpPr>
        <p:spPr>
          <a:xfrm>
            <a:off x="2247900" y="1050886"/>
            <a:ext cx="7696200" cy="52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DevSecOps foca na construção de processos repetíveis e abertos para criar cultura. A tecnologia deve ajudar a concluir o trabalho, mas a ferramenta não define o trabalho.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3228975" y="6346163"/>
            <a:ext cx="5734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50" u="none" cap="none" strike="noStrike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— Baseado em "Learning DevSecOps", Steve Suehring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1485900" y="1703486"/>
            <a:ext cx="419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10287000" y="5897458"/>
            <a:ext cx="419100" cy="960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/>
          <p:nvPr/>
        </p:nvSpPr>
        <p:spPr>
          <a:xfrm>
            <a:off x="1943100" y="2800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2057400" y="2800350"/>
            <a:ext cx="6734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Learning DevSecOps, Steve Suehring (O'Reilly):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https://learning.oreilly.com/library/view/learning-devsecops/9781098144852/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1943100" y="36004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2057400" y="3600450"/>
            <a:ext cx="6734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Open Worldwide Application Security Project (OWASP):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https://owasp.org/</a:t>
            </a:r>
            <a:endParaRPr/>
          </a:p>
        </p:txBody>
      </p:sp>
      <p:sp>
        <p:nvSpPr>
          <p:cNvPr id="348" name="Google Shape;348;p32"/>
          <p:cNvSpPr txBox="1"/>
          <p:nvPr/>
        </p:nvSpPr>
        <p:spPr>
          <a:xfrm>
            <a:off x="1943100" y="44005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2057400" y="4400550"/>
            <a:ext cx="6734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Atlassian - Agile &amp; DevOps Concepts: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https://www.atlassian.com/devops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Fontes e Referências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/>
        </p:nvSpPr>
        <p:spPr>
          <a:xfrm>
            <a:off x="3710701" y="2334517"/>
            <a:ext cx="4770596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Obrigado!</a:t>
            </a:r>
            <a:endParaRPr/>
          </a:p>
        </p:txBody>
      </p:sp>
      <p:sp>
        <p:nvSpPr>
          <p:cNvPr id="356" name="Google Shape;356;p33"/>
          <p:cNvSpPr txBox="1"/>
          <p:nvPr/>
        </p:nvSpPr>
        <p:spPr>
          <a:xfrm>
            <a:off x="5600700" y="4106167"/>
            <a:ext cx="990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Marlon Bastida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/>
          <p:nvPr/>
        </p:nvSpPr>
        <p:spPr>
          <a:xfrm>
            <a:off x="571500" y="145672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4"/>
          <p:cNvSpPr/>
          <p:nvPr/>
        </p:nvSpPr>
        <p:spPr>
          <a:xfrm>
            <a:off x="571500" y="224150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4"/>
          <p:cNvSpPr/>
          <p:nvPr/>
        </p:nvSpPr>
        <p:spPr>
          <a:xfrm>
            <a:off x="571500" y="302627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4"/>
          <p:cNvSpPr/>
          <p:nvPr/>
        </p:nvSpPr>
        <p:spPr>
          <a:xfrm>
            <a:off x="571500" y="381104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571500" y="459581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4"/>
          <p:cNvSpPr/>
          <p:nvPr/>
        </p:nvSpPr>
        <p:spPr>
          <a:xfrm>
            <a:off x="571500" y="2231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571500" y="2231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/>
          <p:nvPr/>
        </p:nvSpPr>
        <p:spPr>
          <a:xfrm>
            <a:off x="571500" y="30167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571500" y="30167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4"/>
          <p:cNvSpPr/>
          <p:nvPr/>
        </p:nvSpPr>
        <p:spPr>
          <a:xfrm>
            <a:off x="571500" y="38015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571500" y="38015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571500" y="4586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571500" y="4586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571500" y="55691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571500" y="55691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6" name="Google Shape;37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061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4"/>
          <p:cNvSpPr txBox="1"/>
          <p:nvPr/>
        </p:nvSpPr>
        <p:spPr>
          <a:xfrm>
            <a:off x="1666875" y="159960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https://apiiro.com/wp-content/uploads/2021/08/sdlc-and-devsecops-blog-featured.png</a:t>
            </a:r>
            <a:endParaRPr/>
          </a:p>
        </p:txBody>
      </p:sp>
      <p:sp>
        <p:nvSpPr>
          <p:cNvPr id="378" name="Google Shape;378;p34"/>
          <p:cNvSpPr txBox="1"/>
          <p:nvPr/>
        </p:nvSpPr>
        <p:spPr>
          <a:xfrm>
            <a:off x="1666875" y="184531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apiiro.com</a:t>
            </a:r>
            <a:endParaRPr/>
          </a:p>
        </p:txBody>
      </p:sp>
      <p:pic>
        <p:nvPicPr>
          <p:cNvPr descr="image.png" id="379" name="Google Shape;37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09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4"/>
          <p:cNvSpPr txBox="1"/>
          <p:nvPr/>
        </p:nvSpPr>
        <p:spPr>
          <a:xfrm>
            <a:off x="1666875" y="23843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https://webdevstudios.com/wp-content/uploads/2023/04/debugging-js-in-vs-code.gif</a:t>
            </a:r>
            <a:endParaRPr/>
          </a:p>
        </p:txBody>
      </p:sp>
      <p:sp>
        <p:nvSpPr>
          <p:cNvPr id="381" name="Google Shape;381;p34"/>
          <p:cNvSpPr txBox="1"/>
          <p:nvPr/>
        </p:nvSpPr>
        <p:spPr>
          <a:xfrm>
            <a:off x="1666875" y="26300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webdevstudios.com</a:t>
            </a:r>
            <a:endParaRPr/>
          </a:p>
        </p:txBody>
      </p:sp>
      <p:pic>
        <p:nvPicPr>
          <p:cNvPr descr="image.png" id="382" name="Google Shape;38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756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4"/>
          <p:cNvSpPr txBox="1"/>
          <p:nvPr/>
        </p:nvSpPr>
        <p:spPr>
          <a:xfrm>
            <a:off x="1666875" y="316914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https://img.freepik.com/free-photo/cybersecurity-shield-with-lock-circuit-board_23-2151998466.jpg</a:t>
            </a:r>
            <a:endParaRPr/>
          </a:p>
        </p:txBody>
      </p:sp>
      <p:sp>
        <p:nvSpPr>
          <p:cNvPr id="384" name="Google Shape;384;p34"/>
          <p:cNvSpPr txBox="1"/>
          <p:nvPr/>
        </p:nvSpPr>
        <p:spPr>
          <a:xfrm>
            <a:off x="1666875" y="341486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www.freepik.com</a:t>
            </a:r>
            <a:endParaRPr/>
          </a:p>
        </p:txBody>
      </p:sp>
      <p:pic>
        <p:nvPicPr>
          <p:cNvPr descr="image.png" id="385" name="Google Shape;385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04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4"/>
          <p:cNvSpPr txBox="1"/>
          <p:nvPr/>
        </p:nvSpPr>
        <p:spPr>
          <a:xfrm>
            <a:off x="1666875" y="395391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https://miro.medium.com/1*CyhP3R7EY4eR8CBX5U6Lwg.png</a:t>
            </a:r>
            <a:endParaRPr/>
          </a:p>
        </p:txBody>
      </p:sp>
      <p:sp>
        <p:nvSpPr>
          <p:cNvPr id="387" name="Google Shape;387;p34"/>
          <p:cNvSpPr txBox="1"/>
          <p:nvPr/>
        </p:nvSpPr>
        <p:spPr>
          <a:xfrm>
            <a:off x="1666875" y="419963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388" name="Google Shape;388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443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4"/>
          <p:cNvSpPr txBox="1"/>
          <p:nvPr/>
        </p:nvSpPr>
        <p:spPr>
          <a:xfrm>
            <a:off x="1666875" y="473868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https://elements-resized.envatousercontent.com/elements-video-cover-images/files/e967264f-38e7-4819-a943-83ddf54a4cea/inline_image_preview.jpg?w=500&amp;cf_fit=cover&amp;q=85&amp;format=auto&amp;s=f6185cdef8a85660f357704b81d1d724511b537a9c4824e4ece56fe4db023c7c</a:t>
            </a:r>
            <a:endParaRPr/>
          </a:p>
        </p:txBody>
      </p:sp>
      <p:sp>
        <p:nvSpPr>
          <p:cNvPr id="390" name="Google Shape;390;p34"/>
          <p:cNvSpPr txBox="1"/>
          <p:nvPr/>
        </p:nvSpPr>
        <p:spPr>
          <a:xfrm>
            <a:off x="1666875" y="518249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elements.envato.com</a:t>
            </a:r>
            <a:endParaRPr/>
          </a:p>
        </p:txBody>
      </p:sp>
      <p:pic>
        <p:nvPicPr>
          <p:cNvPr descr="image.png" id="391" name="Google Shape;391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7280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4"/>
          <p:cNvSpPr txBox="1"/>
          <p:nvPr/>
        </p:nvSpPr>
        <p:spPr>
          <a:xfrm>
            <a:off x="1666875" y="572154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https://cloudaware.com/uploads/2026/01/devsecops_lifecycle_44249b8672.jpg</a:t>
            </a:r>
            <a:endParaRPr/>
          </a:p>
        </p:txBody>
      </p:sp>
      <p:sp>
        <p:nvSpPr>
          <p:cNvPr id="393" name="Google Shape;393;p34"/>
          <p:cNvSpPr txBox="1"/>
          <p:nvPr/>
        </p:nvSpPr>
        <p:spPr>
          <a:xfrm>
            <a:off x="1666875" y="596726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cloudaware.com</a:t>
            </a:r>
            <a:endParaRPr/>
          </a:p>
        </p:txBody>
      </p:sp>
      <p:sp>
        <p:nvSpPr>
          <p:cNvPr id="394" name="Google Shape;394;p34"/>
          <p:cNvSpPr txBox="1"/>
          <p:nvPr/>
        </p:nvSpPr>
        <p:spPr>
          <a:xfrm>
            <a:off x="571500" y="504229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